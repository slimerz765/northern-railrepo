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4"/>
  </p:sldMasterIdLst>
  <p:sldIdLst>
    <p:sldId id="256" r:id="rId5"/>
    <p:sldId id="257"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5" d="100"/>
          <a:sy n="115" d="100"/>
        </p:scale>
        <p:origin x="74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en-GB"/>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35D90F19-7096-4A80-B73C-D283CFCF1E47}" type="slidenum">
              <a:rPr lang="en-GB" smtClean="0"/>
              <a:t>‹#›</a:t>
            </a:fld>
            <a:endParaRPr lang="en-GB"/>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32806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en-GB"/>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A357BCF3-4B88-4142-9F31-1AE8526BD195}" type="datetimeFigureOut">
              <a:rPr lang="en-GB" smtClean="0"/>
              <a:t>14/09/2026</a:t>
            </a:fld>
            <a:endParaRPr lang="en-GB"/>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35D90F19-7096-4A80-B73C-D283CFCF1E47}" type="slidenum">
              <a:rPr lang="en-GB" smtClean="0"/>
              <a:t>‹#›</a:t>
            </a:fld>
            <a:endParaRPr lang="en-GB"/>
          </a:p>
        </p:txBody>
      </p:sp>
    </p:spTree>
    <p:extLst>
      <p:ext uri="{BB962C8B-B14F-4D97-AF65-F5344CB8AC3E}">
        <p14:creationId xmlns:p14="http://schemas.microsoft.com/office/powerpoint/2010/main" val="1136830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en-GB"/>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Tree>
    <p:extLst>
      <p:ext uri="{BB962C8B-B14F-4D97-AF65-F5344CB8AC3E}">
        <p14:creationId xmlns:p14="http://schemas.microsoft.com/office/powerpoint/2010/main" val="40237674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en-GB"/>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3967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en-GB"/>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35D90F19-7096-4A80-B73C-D283CFCF1E47}" type="slidenum">
              <a:rPr lang="en-GB" smtClean="0"/>
              <a:t>‹#›</a:t>
            </a:fld>
            <a:endParaRPr lang="en-GB"/>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7452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en-GB"/>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208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en-GB"/>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A357BCF3-4B88-4142-9F31-1AE8526BD195}" type="datetimeFigureOut">
              <a:rPr lang="en-GB" smtClean="0"/>
              <a:t>14/09/2026</a:t>
            </a:fld>
            <a:endParaRPr lang="en-GB"/>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35D90F19-7096-4A80-B73C-D283CFCF1E47}" type="slidenum">
              <a:rPr lang="en-GB" smtClean="0"/>
              <a:t>‹#›</a:t>
            </a:fld>
            <a:endParaRPr lang="en-GB"/>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8449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35D90F19-7096-4A80-B73C-D283CFCF1E47}" type="slidenum">
              <a:rPr lang="en-GB" smtClean="0"/>
              <a:t>‹#›</a:t>
            </a:fld>
            <a:endParaRPr lang="en-GB"/>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4088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35D90F19-7096-4A80-B73C-D283CFCF1E47}" type="slidenum">
              <a:rPr lang="en-GB" smtClean="0"/>
              <a:t>‹#›</a:t>
            </a:fld>
            <a:endParaRPr lang="en-GB"/>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2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en-GB"/>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9628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en-GB"/>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40670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en-GB"/>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37359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en-GB"/>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35D90F19-7096-4A80-B73C-D283CFCF1E47}" type="slidenum">
              <a:rPr lang="en-GB" smtClean="0"/>
              <a:t>‹#›</a:t>
            </a:fld>
            <a:endParaRPr lang="en-GB"/>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55017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en-GB"/>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66128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en-GB"/>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A357BCF3-4B88-4142-9F31-1AE8526BD195}" type="datetimeFigureOut">
              <a:rPr lang="en-GB" smtClean="0"/>
              <a:t>14/09/2026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38949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GB"/>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Tree>
    <p:extLst>
      <p:ext uri="{BB962C8B-B14F-4D97-AF65-F5344CB8AC3E}">
        <p14:creationId xmlns:p14="http://schemas.microsoft.com/office/powerpoint/2010/main" val="21844375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en-GB"/>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67275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GB"/>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3305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en-GB"/>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A357BCF3-4B88-4142-9F31-1AE8526BD195}" type="datetimeFigureOut">
              <a:rPr lang="en-GB" smtClean="0"/>
              <a:t>14/09/2026</a:t>
            </a:fld>
            <a:endParaRPr lang="en-GB"/>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35D90F19-7096-4A80-B73C-D283CFCF1E47}" type="slidenum">
              <a:rPr lang="en-GB" smtClean="0"/>
              <a:t>‹#›</a:t>
            </a:fld>
            <a:endParaRPr lang="en-GB"/>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09786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en-GB"/>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A357BCF3-4B88-4142-9F31-1AE8526BD195}" type="datetimeFigureOut">
              <a:rPr lang="en-GB" smtClean="0"/>
              <a:t>14/09/2026</a:t>
            </a:fld>
            <a:endParaRPr lang="en-GB"/>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35D90F19-7096-4A80-B73C-D283CFCF1E47}" type="slidenum">
              <a:rPr lang="en-GB" smtClean="0"/>
              <a:t>‹#›</a:t>
            </a:fld>
            <a:endParaRPr lang="en-GB"/>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725604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en-GB"/>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A357BCF3-4B88-4142-9F31-1AE8526BD195}" type="datetimeFigureOut">
              <a:rPr lang="en-GB" smtClean="0"/>
              <a:t>14/09/2026</a:t>
            </a:fld>
            <a:endParaRPr lang="en-GB"/>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35D90F19-7096-4A80-B73C-D283CFCF1E47}" type="slidenum">
              <a:rPr lang="en-GB" smtClean="0"/>
              <a:t>‹#›</a:t>
            </a:fld>
            <a:endParaRPr lang="en-GB"/>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3492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en-GB"/>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A357BCF3-4B88-4142-9F31-1AE8526BD195}" type="datetimeFigureOut">
              <a:rPr lang="en-GB" smtClean="0"/>
              <a:t>14/09/2026</a:t>
            </a:fld>
            <a:endParaRPr lang="en-GB"/>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35D90F19-7096-4A80-B73C-D283CFCF1E47}" type="slidenum">
              <a:rPr lang="en-GB" smtClean="0"/>
              <a:t>‹#›</a:t>
            </a:fld>
            <a:endParaRPr lang="en-GB"/>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814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en-GB"/>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A357BCF3-4B88-4142-9F31-1AE8526BD195}" type="datetimeFigureOut">
              <a:rPr lang="en-GB" smtClean="0"/>
              <a:t>14/09/2026</a:t>
            </a:fld>
            <a:endParaRPr lang="en-GB"/>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35D90F19-7096-4A80-B73C-D283CFCF1E47}" type="slidenum">
              <a:rPr lang="en-GB" smtClean="0"/>
              <a:t>‹#›</a:t>
            </a:fld>
            <a:endParaRPr lang="en-GB"/>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84341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GB"/>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4104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en-GB"/>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A357BCF3-4B88-4142-9F31-1AE8526BD195}" type="datetimeFigureOut">
              <a:rPr lang="en-GB" smtClean="0"/>
              <a:t>14/09/2026</a:t>
            </a:fld>
            <a:endParaRPr lang="en-GB"/>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35D90F19-7096-4A80-B73C-D283CFCF1E47}" type="slidenum">
              <a:rPr lang="en-GB" smtClean="0"/>
              <a:t>‹#›</a:t>
            </a:fld>
            <a:endParaRPr lang="en-GB"/>
          </a:p>
        </p:txBody>
      </p:sp>
    </p:spTree>
    <p:extLst>
      <p:ext uri="{BB962C8B-B14F-4D97-AF65-F5344CB8AC3E}">
        <p14:creationId xmlns:p14="http://schemas.microsoft.com/office/powerpoint/2010/main" val="12231328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46824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35D90F19-7096-4A80-B73C-D283CFCF1E47}" type="slidenum">
              <a:rPr lang="en-GB" smtClean="0"/>
              <a:t>‹#›</a:t>
            </a:fld>
            <a:endParaRPr lang="en-GB"/>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15155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en-GB"/>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A357BCF3-4B88-4142-9F31-1AE8526BD195}" type="datetimeFigureOut">
              <a:rPr lang="en-GB" smtClean="0"/>
              <a:t>14/09/2026</a:t>
            </a:fld>
            <a:endParaRPr lang="en-GB"/>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35D90F19-7096-4A80-B73C-D283CFCF1E47}" type="slidenum">
              <a:rPr lang="en-GB" smtClean="0"/>
              <a:t>‹#›</a:t>
            </a:fld>
            <a:endParaRPr lang="en-GB"/>
          </a:p>
        </p:txBody>
      </p:sp>
    </p:spTree>
    <p:extLst>
      <p:ext uri="{BB962C8B-B14F-4D97-AF65-F5344CB8AC3E}">
        <p14:creationId xmlns:p14="http://schemas.microsoft.com/office/powerpoint/2010/main" val="329598932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Lst>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039C-6DBA-F4EB-DE8C-F2C2F78F4604}"/>
              </a:ext>
            </a:extLst>
          </p:cNvPr>
          <p:cNvSpPr>
            <a:spLocks noGrp="1"/>
          </p:cNvSpPr>
          <p:nvPr>
            <p:ph type="ctrTitle"/>
          </p:nvPr>
        </p:nvSpPr>
        <p:spPr>
          <a:xfrm>
            <a:off x="922858" y="2353386"/>
            <a:ext cx="9140954" cy="3346590"/>
          </a:xfrm>
        </p:spPr>
        <p:txBody>
          <a:bodyPr/>
          <a:lstStyle/>
          <a:p>
            <a:r>
              <a:rPr lang="en-GB" dirty="0"/>
              <a:t>NORTHERN RAIL PLACEMENT</a:t>
            </a:r>
          </a:p>
        </p:txBody>
      </p:sp>
    </p:spTree>
    <p:extLst>
      <p:ext uri="{BB962C8B-B14F-4D97-AF65-F5344CB8AC3E}">
        <p14:creationId xmlns:p14="http://schemas.microsoft.com/office/powerpoint/2010/main" val="2118927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4C10-1343-F221-68A3-B04ACB248C33}"/>
              </a:ext>
            </a:extLst>
          </p:cNvPr>
          <p:cNvSpPr>
            <a:spLocks noGrp="1"/>
          </p:cNvSpPr>
          <p:nvPr>
            <p:ph type="title"/>
          </p:nvPr>
        </p:nvSpPr>
        <p:spPr/>
        <p:txBody>
          <a:bodyPr/>
          <a:lstStyle/>
          <a:p>
            <a:r>
              <a:rPr lang="en-GB" dirty="0"/>
              <a:t>VIRTUALISATION</a:t>
            </a:r>
          </a:p>
        </p:txBody>
      </p:sp>
      <p:sp>
        <p:nvSpPr>
          <p:cNvPr id="3" name="Content Placeholder 2">
            <a:extLst>
              <a:ext uri="{FF2B5EF4-FFF2-40B4-BE49-F238E27FC236}">
                <a16:creationId xmlns:a16="http://schemas.microsoft.com/office/drawing/2014/main" id="{9016BCE3-E380-C65C-78BB-17762E7F89C7}"/>
              </a:ext>
            </a:extLst>
          </p:cNvPr>
          <p:cNvSpPr>
            <a:spLocks noGrp="1"/>
          </p:cNvSpPr>
          <p:nvPr>
            <p:ph idx="1"/>
          </p:nvPr>
        </p:nvSpPr>
        <p:spPr/>
        <p:txBody>
          <a:bodyPr/>
          <a:lstStyle/>
          <a:p>
            <a:r>
              <a:rPr lang="en-GB" dirty="0"/>
              <a:t>Virtualisation is a series of technologies that allows dividing of physical computing resources into a series of virtual machines, operating systems, processes or containers. It is often used to make virtual computers or resources.</a:t>
            </a:r>
          </a:p>
        </p:txBody>
      </p:sp>
      <p:sp>
        <p:nvSpPr>
          <p:cNvPr id="4" name="TextBox 3">
            <a:extLst>
              <a:ext uri="{FF2B5EF4-FFF2-40B4-BE49-F238E27FC236}">
                <a16:creationId xmlns:a16="http://schemas.microsoft.com/office/drawing/2014/main" id="{0BA9B515-D8F8-45DC-AAE3-B75D87CA6731}"/>
              </a:ext>
            </a:extLst>
          </p:cNvPr>
          <p:cNvSpPr txBox="1"/>
          <p:nvPr/>
        </p:nvSpPr>
        <p:spPr>
          <a:xfrm>
            <a:off x="708991" y="2392017"/>
            <a:ext cx="902811" cy="369332"/>
          </a:xfrm>
          <a:prstGeom prst="rect">
            <a:avLst/>
          </a:prstGeom>
          <a:noFill/>
        </p:spPr>
        <p:txBody>
          <a:bodyPr wrap="none" rtlCol="0">
            <a:spAutoFit/>
          </a:bodyPr>
          <a:lstStyle/>
          <a:p>
            <a:r>
              <a:rPr lang="en-GB" dirty="0"/>
              <a:t>PROS:</a:t>
            </a:r>
          </a:p>
        </p:txBody>
      </p:sp>
      <p:sp>
        <p:nvSpPr>
          <p:cNvPr id="5" name="TextBox 4">
            <a:extLst>
              <a:ext uri="{FF2B5EF4-FFF2-40B4-BE49-F238E27FC236}">
                <a16:creationId xmlns:a16="http://schemas.microsoft.com/office/drawing/2014/main" id="{45EDAFBA-8494-4834-08DB-54E4C342FB0E}"/>
              </a:ext>
            </a:extLst>
          </p:cNvPr>
          <p:cNvSpPr txBox="1"/>
          <p:nvPr/>
        </p:nvSpPr>
        <p:spPr>
          <a:xfrm>
            <a:off x="841512" y="2786988"/>
            <a:ext cx="3399184" cy="2677656"/>
          </a:xfrm>
          <a:prstGeom prst="rect">
            <a:avLst/>
          </a:prstGeom>
          <a:noFill/>
        </p:spPr>
        <p:txBody>
          <a:bodyPr wrap="square" rtlCol="0">
            <a:spAutoFit/>
          </a:bodyPr>
          <a:lstStyle/>
          <a:p>
            <a:pPr marL="285750" indent="-285750">
              <a:buFontTx/>
              <a:buChar char="-"/>
            </a:pPr>
            <a:r>
              <a:rPr lang="en-GB" sz="1200" dirty="0"/>
              <a:t>Allows multiple systems to run on the same piece of hardware, because of this for example money is saved on buying and maintaining individual servers when one physical server can be bought and can be made to run several different virtual servers</a:t>
            </a:r>
          </a:p>
          <a:p>
            <a:pPr marL="285750" indent="-285750">
              <a:buFontTx/>
              <a:buChar char="-"/>
            </a:pPr>
            <a:endParaRPr lang="en-GB" sz="1200" dirty="0"/>
          </a:p>
          <a:p>
            <a:pPr marL="285750" indent="-285750">
              <a:buFontTx/>
              <a:buChar char="-"/>
            </a:pPr>
            <a:r>
              <a:rPr lang="en-GB" sz="1200" dirty="0"/>
              <a:t>Virtualised machines can easily be managed as they can be created, shut down and assigned resources at will without much needed setup or equipment</a:t>
            </a:r>
          </a:p>
          <a:p>
            <a:pPr marL="285750" indent="-285750">
              <a:buFontTx/>
              <a:buChar char="-"/>
            </a:pPr>
            <a:endParaRPr lang="en-GB" sz="1200" dirty="0"/>
          </a:p>
          <a:p>
            <a:pPr marL="285750" indent="-285750">
              <a:buFontTx/>
              <a:buChar char="-"/>
            </a:pPr>
            <a:r>
              <a:rPr lang="en-GB" sz="1200" dirty="0"/>
              <a:t>Allows multiple Operating Systems to run on one physical machine</a:t>
            </a:r>
          </a:p>
        </p:txBody>
      </p:sp>
      <p:sp>
        <p:nvSpPr>
          <p:cNvPr id="6" name="TextBox 5">
            <a:extLst>
              <a:ext uri="{FF2B5EF4-FFF2-40B4-BE49-F238E27FC236}">
                <a16:creationId xmlns:a16="http://schemas.microsoft.com/office/drawing/2014/main" id="{A6800DB7-5C84-394D-75A7-621024C9655E}"/>
              </a:ext>
            </a:extLst>
          </p:cNvPr>
          <p:cNvSpPr txBox="1"/>
          <p:nvPr/>
        </p:nvSpPr>
        <p:spPr>
          <a:xfrm>
            <a:off x="5228388" y="2414198"/>
            <a:ext cx="915635" cy="369332"/>
          </a:xfrm>
          <a:prstGeom prst="rect">
            <a:avLst/>
          </a:prstGeom>
          <a:noFill/>
        </p:spPr>
        <p:txBody>
          <a:bodyPr wrap="none" rtlCol="0">
            <a:spAutoFit/>
          </a:bodyPr>
          <a:lstStyle/>
          <a:p>
            <a:r>
              <a:rPr lang="en-GB" dirty="0"/>
              <a:t>CONS:</a:t>
            </a:r>
          </a:p>
        </p:txBody>
      </p:sp>
      <p:sp>
        <p:nvSpPr>
          <p:cNvPr id="7" name="TextBox 6">
            <a:extLst>
              <a:ext uri="{FF2B5EF4-FFF2-40B4-BE49-F238E27FC236}">
                <a16:creationId xmlns:a16="http://schemas.microsoft.com/office/drawing/2014/main" id="{47F38A16-C93F-D565-5130-239965D0B1B2}"/>
              </a:ext>
            </a:extLst>
          </p:cNvPr>
          <p:cNvSpPr txBox="1"/>
          <p:nvPr/>
        </p:nvSpPr>
        <p:spPr>
          <a:xfrm>
            <a:off x="5449667" y="2761349"/>
            <a:ext cx="2978716" cy="3046988"/>
          </a:xfrm>
          <a:prstGeom prst="rect">
            <a:avLst/>
          </a:prstGeom>
          <a:noFill/>
        </p:spPr>
        <p:txBody>
          <a:bodyPr wrap="square" rtlCol="0">
            <a:spAutoFit/>
          </a:bodyPr>
          <a:lstStyle/>
          <a:p>
            <a:pPr marL="171450" indent="-171450">
              <a:buFontTx/>
              <a:buChar char="-"/>
            </a:pPr>
            <a:r>
              <a:rPr lang="en-GB" sz="1200" dirty="0"/>
              <a:t>If the physical machine fails, all the virtual machines also fail</a:t>
            </a:r>
          </a:p>
          <a:p>
            <a:pPr marL="171450" indent="-171450">
              <a:buFontTx/>
              <a:buChar char="-"/>
            </a:pPr>
            <a:endParaRPr lang="en-GB" sz="1200" dirty="0"/>
          </a:p>
          <a:p>
            <a:pPr marL="171450" indent="-171450">
              <a:buFontTx/>
              <a:buChar char="-"/>
            </a:pPr>
            <a:r>
              <a:rPr lang="en-GB" sz="1200" dirty="0"/>
              <a:t>If there are any security vulnerabilities, they apply to all the Virtual Machines also</a:t>
            </a:r>
          </a:p>
          <a:p>
            <a:pPr marL="171450" indent="-171450">
              <a:buFontTx/>
              <a:buChar char="-"/>
            </a:pPr>
            <a:endParaRPr lang="en-GB" sz="1200" dirty="0"/>
          </a:p>
          <a:p>
            <a:pPr marL="171450" indent="-171450">
              <a:buFontTx/>
              <a:buChar char="-"/>
            </a:pPr>
            <a:r>
              <a:rPr lang="en-GB" sz="1200" dirty="0"/>
              <a:t>Some virtualisation software needs licencing OR purchase of licences to use Operating Systems on the Virtual Machines</a:t>
            </a:r>
          </a:p>
          <a:p>
            <a:pPr marL="171450" indent="-171450">
              <a:buFontTx/>
              <a:buChar char="-"/>
            </a:pPr>
            <a:endParaRPr lang="en-GB" sz="1200" dirty="0"/>
          </a:p>
          <a:p>
            <a:pPr marL="171450" indent="-171450">
              <a:buFontTx/>
              <a:buChar char="-"/>
            </a:pPr>
            <a:r>
              <a:rPr lang="en-GB" sz="1200" dirty="0"/>
              <a:t>With enough Virtual Machines, monitoring and managing them will eventually become complex and difficult</a:t>
            </a:r>
          </a:p>
        </p:txBody>
      </p:sp>
    </p:spTree>
    <p:extLst>
      <p:ext uri="{BB962C8B-B14F-4D97-AF65-F5344CB8AC3E}">
        <p14:creationId xmlns:p14="http://schemas.microsoft.com/office/powerpoint/2010/main" val="2147392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68FF6-C0FA-5883-0383-F814702C30BC}"/>
              </a:ext>
            </a:extLst>
          </p:cNvPr>
          <p:cNvSpPr>
            <a:spLocks noGrp="1"/>
          </p:cNvSpPr>
          <p:nvPr>
            <p:ph type="title"/>
          </p:nvPr>
        </p:nvSpPr>
        <p:spPr/>
        <p:txBody>
          <a:bodyPr/>
          <a:lstStyle/>
          <a:p>
            <a:r>
              <a:rPr lang="en-GB" dirty="0" err="1"/>
              <a:t>VBoxmanage</a:t>
            </a:r>
            <a:endParaRPr lang="en-GB" dirty="0"/>
          </a:p>
        </p:txBody>
      </p:sp>
      <p:sp>
        <p:nvSpPr>
          <p:cNvPr id="3" name="Content Placeholder 2">
            <a:extLst>
              <a:ext uri="{FF2B5EF4-FFF2-40B4-BE49-F238E27FC236}">
                <a16:creationId xmlns:a16="http://schemas.microsoft.com/office/drawing/2014/main" id="{39B9FEBA-5E08-DD25-5FF6-8AFA12E31B1D}"/>
              </a:ext>
            </a:extLst>
          </p:cNvPr>
          <p:cNvSpPr>
            <a:spLocks noGrp="1"/>
          </p:cNvSpPr>
          <p:nvPr>
            <p:ph idx="1"/>
          </p:nvPr>
        </p:nvSpPr>
        <p:spPr/>
        <p:txBody>
          <a:bodyPr>
            <a:normAutofit/>
          </a:bodyPr>
          <a:lstStyle/>
          <a:p>
            <a:r>
              <a:rPr lang="en-GB" sz="2000" dirty="0" err="1"/>
              <a:t>VBoxManage</a:t>
            </a:r>
            <a:r>
              <a:rPr lang="en-GB" sz="2000" dirty="0"/>
              <a:t> is the Command Line Interface (CLI) for the Oracle VirtualBox software that allows the creation of Virtual machines (VMs). It is a tool that can be used to create, delete, attach virtual hard disks and ISO files and manage computer resources used by the VMs.</a:t>
            </a:r>
          </a:p>
        </p:txBody>
      </p:sp>
      <p:pic>
        <p:nvPicPr>
          <p:cNvPr id="4" name="Picture 3" descr="VBoxManage: Control VirtualBox via CMD or PowerShell : r/commandline">
            <a:extLst>
              <a:ext uri="{FF2B5EF4-FFF2-40B4-BE49-F238E27FC236}">
                <a16:creationId xmlns:a16="http://schemas.microsoft.com/office/drawing/2014/main" id="{64FF3EAF-1148-4437-86A1-5A04B02FFB41}"/>
              </a:ext>
            </a:extLst>
          </p:cNvPr>
          <p:cNvPicPr>
            <a:picLocks noChangeAspect="1"/>
          </p:cNvPicPr>
          <p:nvPr/>
        </p:nvPicPr>
        <p:blipFill>
          <a:blip r:embed="rId2"/>
          <a:stretch>
            <a:fillRect/>
          </a:stretch>
        </p:blipFill>
        <p:spPr>
          <a:xfrm>
            <a:off x="625076" y="2742029"/>
            <a:ext cx="4340670" cy="2511962"/>
          </a:xfrm>
          <a:prstGeom prst="rect">
            <a:avLst/>
          </a:prstGeom>
        </p:spPr>
      </p:pic>
      <p:sp>
        <p:nvSpPr>
          <p:cNvPr id="5" name="TextBox 4">
            <a:extLst>
              <a:ext uri="{FF2B5EF4-FFF2-40B4-BE49-F238E27FC236}">
                <a16:creationId xmlns:a16="http://schemas.microsoft.com/office/drawing/2014/main" id="{C70918A2-1F0A-8D9C-A03F-66598984884C}"/>
              </a:ext>
            </a:extLst>
          </p:cNvPr>
          <p:cNvSpPr txBox="1"/>
          <p:nvPr/>
        </p:nvSpPr>
        <p:spPr>
          <a:xfrm>
            <a:off x="5641145" y="2848708"/>
            <a:ext cx="6109134" cy="2308324"/>
          </a:xfrm>
          <a:prstGeom prst="rect">
            <a:avLst/>
          </a:prstGeom>
          <a:noFill/>
        </p:spPr>
        <p:txBody>
          <a:bodyPr wrap="square" rtlCol="0">
            <a:spAutoFit/>
          </a:bodyPr>
          <a:lstStyle/>
          <a:p>
            <a:r>
              <a:rPr lang="en-GB" dirty="0"/>
              <a:t>Some advantages include the ability to automate repetitive tasks with scripts; it’s ability to multi-manage VMs and its ability to be used remotely. However, in order to do so you need to know the correct syntax that allows you to operate </a:t>
            </a:r>
            <a:r>
              <a:rPr lang="en-GB" dirty="0" err="1"/>
              <a:t>VBoxManage</a:t>
            </a:r>
            <a:r>
              <a:rPr lang="en-GB" dirty="0"/>
              <a:t> and due to its nature of being a CLI the GUI is less than user friendly. These are among the disadvantages of </a:t>
            </a:r>
            <a:r>
              <a:rPr lang="en-GB" dirty="0" err="1"/>
              <a:t>VBoxManage</a:t>
            </a:r>
            <a:r>
              <a:rPr lang="en-GB" dirty="0"/>
              <a:t> – the high technical knowledge bracket.</a:t>
            </a:r>
          </a:p>
        </p:txBody>
      </p:sp>
    </p:spTree>
    <p:extLst>
      <p:ext uri="{BB962C8B-B14F-4D97-AF65-F5344CB8AC3E}">
        <p14:creationId xmlns:p14="http://schemas.microsoft.com/office/powerpoint/2010/main" val="1794786925"/>
      </p:ext>
    </p:extLst>
  </p:cSld>
  <p:clrMapOvr>
    <a:masterClrMapping/>
  </p:clrMapOvr>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cfdf3a4-5ca4-4f89-bb7f-dc3b091724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79ACB3C8659D24283D811BD63A346C5" ma:contentTypeVersion="9" ma:contentTypeDescription="Create a new document." ma:contentTypeScope="" ma:versionID="56a5086ef12d54477343d1a3fd055796">
  <xsd:schema xmlns:xsd="http://www.w3.org/2001/XMLSchema" xmlns:xs="http://www.w3.org/2001/XMLSchema" xmlns:p="http://schemas.microsoft.com/office/2006/metadata/properties" xmlns:ns3="ecfdf3a4-5ca4-4f89-bb7f-dc3b09172487" targetNamespace="http://schemas.microsoft.com/office/2006/metadata/properties" ma:root="true" ma:fieldsID="659f626518ce2bfeaac49c39359f95ce" ns3:_="">
    <xsd:import namespace="ecfdf3a4-5ca4-4f89-bb7f-dc3b0917248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fdf3a4-5ca4-4f89-bb7f-dc3b0917248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FE539C8-2F60-421D-849A-D923094BD8CE}">
  <ds:schemaRefs>
    <ds:schemaRef ds:uri="http://schemas.microsoft.com/office/2006/metadata/properties"/>
    <ds:schemaRef ds:uri="http://schemas.microsoft.com/office/infopath/2007/PartnerControls"/>
    <ds:schemaRef ds:uri="ecfdf3a4-5ca4-4f89-bb7f-dc3b09172487"/>
  </ds:schemaRefs>
</ds:datastoreItem>
</file>

<file path=customXml/itemProps2.xml><?xml version="1.0" encoding="utf-8"?>
<ds:datastoreItem xmlns:ds="http://schemas.openxmlformats.org/officeDocument/2006/customXml" ds:itemID="{0D5E5DC0-0E68-4199-9F28-AFBB2A68B754}">
  <ds:schemaRefs>
    <ds:schemaRef ds:uri="http://schemas.microsoft.com/sharepoint/v3/contenttype/forms"/>
  </ds:schemaRefs>
</ds:datastoreItem>
</file>

<file path=customXml/itemProps3.xml><?xml version="1.0" encoding="utf-8"?>
<ds:datastoreItem xmlns:ds="http://schemas.openxmlformats.org/officeDocument/2006/customXml" ds:itemID="{DFEA734D-FEC5-4F92-8848-133321125C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fdf3a4-5ca4-4f89-bb7f-dc3b091724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Modulo</Template>
  <TotalTime>114</TotalTime>
  <Words>313</Words>
  <Application>Microsoft Office PowerPoint</Application>
  <PresentationFormat>Widescreen</PresentationFormat>
  <Paragraphs>20</Paragraphs>
  <Slides>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Modulo</vt:lpstr>
      <vt:lpstr>NORTHERN RAIL PLACEMENT</vt:lpstr>
      <vt:lpstr>VIRTUALISATION</vt:lpstr>
      <vt:lpstr>VBoxmanage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 Bradley</dc:creator>
  <cp:lastModifiedBy>Max Bradley</cp:lastModifiedBy>
  <cp:revision>2</cp:revision>
  <dcterms:created xsi:type="dcterms:W3CDTF">2026-09-14T12:00:49Z</dcterms:created>
  <dcterms:modified xsi:type="dcterms:W3CDTF">2026-09-14T19:01:15Z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0x010100279ACB3C8659D24283D811BD63A346C5</vt:lpwstr>
  </property>
</Properties>
</file>